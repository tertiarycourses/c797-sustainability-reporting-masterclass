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59" r:id="rId10"/>
    <p:sldId id="261" r:id="rId12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3" r:id="rId224"/>
    <p:sldId id="474" r:id="rId225"/>
    <p:sldId id="475" r:id="rId2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2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Relationship Id="rId52" Type="http://schemas.openxmlformats.org/officeDocument/2006/relationships/slide" Target="slides/slide41.xml"/><Relationship Id="rId53" Type="http://schemas.openxmlformats.org/officeDocument/2006/relationships/slide" Target="slides/slide42.xml"/><Relationship Id="rId54" Type="http://schemas.openxmlformats.org/officeDocument/2006/relationships/slide" Target="slides/slide43.xml"/><Relationship Id="rId55" Type="http://schemas.openxmlformats.org/officeDocument/2006/relationships/slide" Target="slides/slide44.xml"/><Relationship Id="rId56" Type="http://schemas.openxmlformats.org/officeDocument/2006/relationships/slide" Target="slides/slide45.xml"/><Relationship Id="rId57" Type="http://schemas.openxmlformats.org/officeDocument/2006/relationships/slide" Target="slides/slide46.xml"/><Relationship Id="rId58" Type="http://schemas.openxmlformats.org/officeDocument/2006/relationships/slide" Target="slides/slide47.xml"/><Relationship Id="rId59" Type="http://schemas.openxmlformats.org/officeDocument/2006/relationships/slide" Target="slides/slide48.xml"/><Relationship Id="rId60" Type="http://schemas.openxmlformats.org/officeDocument/2006/relationships/slide" Target="slides/slide49.xml"/><Relationship Id="rId61" Type="http://schemas.openxmlformats.org/officeDocument/2006/relationships/slide" Target="slides/slide50.xml"/><Relationship Id="rId62" Type="http://schemas.openxmlformats.org/officeDocument/2006/relationships/slide" Target="slides/slide51.xml"/><Relationship Id="rId63" Type="http://schemas.openxmlformats.org/officeDocument/2006/relationships/slide" Target="slides/slide52.xml"/><Relationship Id="rId64" Type="http://schemas.openxmlformats.org/officeDocument/2006/relationships/slide" Target="slides/slide53.xml"/><Relationship Id="rId65" Type="http://schemas.openxmlformats.org/officeDocument/2006/relationships/slide" Target="slides/slide54.xml"/><Relationship Id="rId66" Type="http://schemas.openxmlformats.org/officeDocument/2006/relationships/slide" Target="slides/slide55.xml"/><Relationship Id="rId67" Type="http://schemas.openxmlformats.org/officeDocument/2006/relationships/slide" Target="slides/slide56.xml"/><Relationship Id="rId68" Type="http://schemas.openxmlformats.org/officeDocument/2006/relationships/slide" Target="slides/slide57.xml"/><Relationship Id="rId69" Type="http://schemas.openxmlformats.org/officeDocument/2006/relationships/slide" Target="slides/slide58.xml"/><Relationship Id="rId70" Type="http://schemas.openxmlformats.org/officeDocument/2006/relationships/slide" Target="slides/slide59.xml"/><Relationship Id="rId71" Type="http://schemas.openxmlformats.org/officeDocument/2006/relationships/slide" Target="slides/slide60.xml"/><Relationship Id="rId72" Type="http://schemas.openxmlformats.org/officeDocument/2006/relationships/slide" Target="slides/slide61.xml"/><Relationship Id="rId73" Type="http://schemas.openxmlformats.org/officeDocument/2006/relationships/slide" Target="slides/slide62.xml"/><Relationship Id="rId74" Type="http://schemas.openxmlformats.org/officeDocument/2006/relationships/slide" Target="slides/slide63.xml"/><Relationship Id="rId75" Type="http://schemas.openxmlformats.org/officeDocument/2006/relationships/slide" Target="slides/slide64.xml"/><Relationship Id="rId76" Type="http://schemas.openxmlformats.org/officeDocument/2006/relationships/slide" Target="slides/slide65.xml"/><Relationship Id="rId77" Type="http://schemas.openxmlformats.org/officeDocument/2006/relationships/slide" Target="slides/slide66.xml"/><Relationship Id="rId78" Type="http://schemas.openxmlformats.org/officeDocument/2006/relationships/slide" Target="slides/slide67.xml"/><Relationship Id="rId79" Type="http://schemas.openxmlformats.org/officeDocument/2006/relationships/slide" Target="slides/slide68.xml"/><Relationship Id="rId80" Type="http://schemas.openxmlformats.org/officeDocument/2006/relationships/slide" Target="slides/slide69.xml"/><Relationship Id="rId81" Type="http://schemas.openxmlformats.org/officeDocument/2006/relationships/slide" Target="slides/slide70.xml"/><Relationship Id="rId82" Type="http://schemas.openxmlformats.org/officeDocument/2006/relationships/slide" Target="slides/slide71.xml"/><Relationship Id="rId83" Type="http://schemas.openxmlformats.org/officeDocument/2006/relationships/slide" Target="slides/slide72.xml"/><Relationship Id="rId84" Type="http://schemas.openxmlformats.org/officeDocument/2006/relationships/slide" Target="slides/slide73.xml"/><Relationship Id="rId85" Type="http://schemas.openxmlformats.org/officeDocument/2006/relationships/slide" Target="slides/slide74.xml"/><Relationship Id="rId86" Type="http://schemas.openxmlformats.org/officeDocument/2006/relationships/slide" Target="slides/slide75.xml"/><Relationship Id="rId87" Type="http://schemas.openxmlformats.org/officeDocument/2006/relationships/slide" Target="slides/slide76.xml"/><Relationship Id="rId88" Type="http://schemas.openxmlformats.org/officeDocument/2006/relationships/slide" Target="slides/slide77.xml"/><Relationship Id="rId89" Type="http://schemas.openxmlformats.org/officeDocument/2006/relationships/slide" Target="slides/slide78.xml"/><Relationship Id="rId90" Type="http://schemas.openxmlformats.org/officeDocument/2006/relationships/slide" Target="slides/slide79.xml"/><Relationship Id="rId91" Type="http://schemas.openxmlformats.org/officeDocument/2006/relationships/slide" Target="slides/slide80.xml"/><Relationship Id="rId92" Type="http://schemas.openxmlformats.org/officeDocument/2006/relationships/slide" Target="slides/slide81.xml"/><Relationship Id="rId93" Type="http://schemas.openxmlformats.org/officeDocument/2006/relationships/slide" Target="slides/slide82.xml"/><Relationship Id="rId94" Type="http://schemas.openxmlformats.org/officeDocument/2006/relationships/slide" Target="slides/slide83.xml"/><Relationship Id="rId95" Type="http://schemas.openxmlformats.org/officeDocument/2006/relationships/slide" Target="slides/slide84.xml"/><Relationship Id="rId96" Type="http://schemas.openxmlformats.org/officeDocument/2006/relationships/slide" Target="slides/slide85.xml"/><Relationship Id="rId97" Type="http://schemas.openxmlformats.org/officeDocument/2006/relationships/slide" Target="slides/slide86.xml"/><Relationship Id="rId98" Type="http://schemas.openxmlformats.org/officeDocument/2006/relationships/slide" Target="slides/slide87.xml"/><Relationship Id="rId99" Type="http://schemas.openxmlformats.org/officeDocument/2006/relationships/slide" Target="slides/slide88.xml"/><Relationship Id="rId100" Type="http://schemas.openxmlformats.org/officeDocument/2006/relationships/slide" Target="slides/slide89.xml"/><Relationship Id="rId101" Type="http://schemas.openxmlformats.org/officeDocument/2006/relationships/slide" Target="slides/slide90.xml"/><Relationship Id="rId102" Type="http://schemas.openxmlformats.org/officeDocument/2006/relationships/slide" Target="slides/slide91.xml"/><Relationship Id="rId103" Type="http://schemas.openxmlformats.org/officeDocument/2006/relationships/slide" Target="slides/slide92.xml"/><Relationship Id="rId104" Type="http://schemas.openxmlformats.org/officeDocument/2006/relationships/slide" Target="slides/slide93.xml"/><Relationship Id="rId105" Type="http://schemas.openxmlformats.org/officeDocument/2006/relationships/slide" Target="slides/slide94.xml"/><Relationship Id="rId106" Type="http://schemas.openxmlformats.org/officeDocument/2006/relationships/slide" Target="slides/slide95.xml"/><Relationship Id="rId107" Type="http://schemas.openxmlformats.org/officeDocument/2006/relationships/slide" Target="slides/slide96.xml"/><Relationship Id="rId108" Type="http://schemas.openxmlformats.org/officeDocument/2006/relationships/slide" Target="slides/slide97.xml"/><Relationship Id="rId109" Type="http://schemas.openxmlformats.org/officeDocument/2006/relationships/slide" Target="slides/slide98.xml"/><Relationship Id="rId110" Type="http://schemas.openxmlformats.org/officeDocument/2006/relationships/slide" Target="slides/slide99.xml"/><Relationship Id="rId111" Type="http://schemas.openxmlformats.org/officeDocument/2006/relationships/slide" Target="slides/slide100.xml"/><Relationship Id="rId112" Type="http://schemas.openxmlformats.org/officeDocument/2006/relationships/slide" Target="slides/slide101.xml"/><Relationship Id="rId113" Type="http://schemas.openxmlformats.org/officeDocument/2006/relationships/slide" Target="slides/slide102.xml"/><Relationship Id="rId114" Type="http://schemas.openxmlformats.org/officeDocument/2006/relationships/slide" Target="slides/slide103.xml"/><Relationship Id="rId115" Type="http://schemas.openxmlformats.org/officeDocument/2006/relationships/slide" Target="slides/slide104.xml"/><Relationship Id="rId116" Type="http://schemas.openxmlformats.org/officeDocument/2006/relationships/slide" Target="slides/slide105.xml"/><Relationship Id="rId117" Type="http://schemas.openxmlformats.org/officeDocument/2006/relationships/slide" Target="slides/slide106.xml"/><Relationship Id="rId118" Type="http://schemas.openxmlformats.org/officeDocument/2006/relationships/slide" Target="slides/slide107.xml"/><Relationship Id="rId119" Type="http://schemas.openxmlformats.org/officeDocument/2006/relationships/slide" Target="slides/slide108.xml"/><Relationship Id="rId120" Type="http://schemas.openxmlformats.org/officeDocument/2006/relationships/slide" Target="slides/slide109.xml"/><Relationship Id="rId121" Type="http://schemas.openxmlformats.org/officeDocument/2006/relationships/slide" Target="slides/slide110.xml"/><Relationship Id="rId122" Type="http://schemas.openxmlformats.org/officeDocument/2006/relationships/slide" Target="slides/slide111.xml"/><Relationship Id="rId123" Type="http://schemas.openxmlformats.org/officeDocument/2006/relationships/slide" Target="slides/slide112.xml"/><Relationship Id="rId124" Type="http://schemas.openxmlformats.org/officeDocument/2006/relationships/slide" Target="slides/slide113.xml"/><Relationship Id="rId125" Type="http://schemas.openxmlformats.org/officeDocument/2006/relationships/slide" Target="slides/slide114.xml"/><Relationship Id="rId126" Type="http://schemas.openxmlformats.org/officeDocument/2006/relationships/slide" Target="slides/slide115.xml"/><Relationship Id="rId127" Type="http://schemas.openxmlformats.org/officeDocument/2006/relationships/slide" Target="slides/slide116.xml"/><Relationship Id="rId128" Type="http://schemas.openxmlformats.org/officeDocument/2006/relationships/slide" Target="slides/slide117.xml"/><Relationship Id="rId129" Type="http://schemas.openxmlformats.org/officeDocument/2006/relationships/slide" Target="slides/slide118.xml"/><Relationship Id="rId130" Type="http://schemas.openxmlformats.org/officeDocument/2006/relationships/slide" Target="slides/slide119.xml"/><Relationship Id="rId131" Type="http://schemas.openxmlformats.org/officeDocument/2006/relationships/slide" Target="slides/slide120.xml"/><Relationship Id="rId132" Type="http://schemas.openxmlformats.org/officeDocument/2006/relationships/slide" Target="slides/slide121.xml"/><Relationship Id="rId133" Type="http://schemas.openxmlformats.org/officeDocument/2006/relationships/slide" Target="slides/slide122.xml"/><Relationship Id="rId134" Type="http://schemas.openxmlformats.org/officeDocument/2006/relationships/slide" Target="slides/slide123.xml"/><Relationship Id="rId135" Type="http://schemas.openxmlformats.org/officeDocument/2006/relationships/slide" Target="slides/slide124.xml"/><Relationship Id="rId136" Type="http://schemas.openxmlformats.org/officeDocument/2006/relationships/slide" Target="slides/slide125.xml"/><Relationship Id="rId137" Type="http://schemas.openxmlformats.org/officeDocument/2006/relationships/slide" Target="slides/slide126.xml"/><Relationship Id="rId138" Type="http://schemas.openxmlformats.org/officeDocument/2006/relationships/slide" Target="slides/slide127.xml"/><Relationship Id="rId139" Type="http://schemas.openxmlformats.org/officeDocument/2006/relationships/slide" Target="slides/slide128.xml"/><Relationship Id="rId140" Type="http://schemas.openxmlformats.org/officeDocument/2006/relationships/slide" Target="slides/slide129.xml"/><Relationship Id="rId141" Type="http://schemas.openxmlformats.org/officeDocument/2006/relationships/slide" Target="slides/slide130.xml"/><Relationship Id="rId142" Type="http://schemas.openxmlformats.org/officeDocument/2006/relationships/slide" Target="slides/slide131.xml"/><Relationship Id="rId143" Type="http://schemas.openxmlformats.org/officeDocument/2006/relationships/slide" Target="slides/slide132.xml"/><Relationship Id="rId144" Type="http://schemas.openxmlformats.org/officeDocument/2006/relationships/slide" Target="slides/slide133.xml"/><Relationship Id="rId145" Type="http://schemas.openxmlformats.org/officeDocument/2006/relationships/slide" Target="slides/slide134.xml"/><Relationship Id="rId146" Type="http://schemas.openxmlformats.org/officeDocument/2006/relationships/slide" Target="slides/slide135.xml"/><Relationship Id="rId147" Type="http://schemas.openxmlformats.org/officeDocument/2006/relationships/slide" Target="slides/slide136.xml"/><Relationship Id="rId148" Type="http://schemas.openxmlformats.org/officeDocument/2006/relationships/slide" Target="slides/slide137.xml"/><Relationship Id="rId149" Type="http://schemas.openxmlformats.org/officeDocument/2006/relationships/slide" Target="slides/slide138.xml"/><Relationship Id="rId150" Type="http://schemas.openxmlformats.org/officeDocument/2006/relationships/slide" Target="slides/slide139.xml"/><Relationship Id="rId151" Type="http://schemas.openxmlformats.org/officeDocument/2006/relationships/slide" Target="slides/slide140.xml"/><Relationship Id="rId152" Type="http://schemas.openxmlformats.org/officeDocument/2006/relationships/slide" Target="slides/slide141.xml"/><Relationship Id="rId153" Type="http://schemas.openxmlformats.org/officeDocument/2006/relationships/slide" Target="slides/slide142.xml"/><Relationship Id="rId154" Type="http://schemas.openxmlformats.org/officeDocument/2006/relationships/slide" Target="slides/slide143.xml"/><Relationship Id="rId155" Type="http://schemas.openxmlformats.org/officeDocument/2006/relationships/slide" Target="slides/slide144.xml"/><Relationship Id="rId156" Type="http://schemas.openxmlformats.org/officeDocument/2006/relationships/slide" Target="slides/slide145.xml"/><Relationship Id="rId157" Type="http://schemas.openxmlformats.org/officeDocument/2006/relationships/slide" Target="slides/slide146.xml"/><Relationship Id="rId158" Type="http://schemas.openxmlformats.org/officeDocument/2006/relationships/slide" Target="slides/slide147.xml"/><Relationship Id="rId159" Type="http://schemas.openxmlformats.org/officeDocument/2006/relationships/slide" Target="slides/slide148.xml"/><Relationship Id="rId160" Type="http://schemas.openxmlformats.org/officeDocument/2006/relationships/slide" Target="slides/slide149.xml"/><Relationship Id="rId161" Type="http://schemas.openxmlformats.org/officeDocument/2006/relationships/slide" Target="slides/slide150.xml"/><Relationship Id="rId162" Type="http://schemas.openxmlformats.org/officeDocument/2006/relationships/slide" Target="slides/slide151.xml"/><Relationship Id="rId163" Type="http://schemas.openxmlformats.org/officeDocument/2006/relationships/slide" Target="slides/slide152.xml"/><Relationship Id="rId164" Type="http://schemas.openxmlformats.org/officeDocument/2006/relationships/slide" Target="slides/slide153.xml"/><Relationship Id="rId165" Type="http://schemas.openxmlformats.org/officeDocument/2006/relationships/slide" Target="slides/slide154.xml"/><Relationship Id="rId166" Type="http://schemas.openxmlformats.org/officeDocument/2006/relationships/slide" Target="slides/slide155.xml"/><Relationship Id="rId167" Type="http://schemas.openxmlformats.org/officeDocument/2006/relationships/slide" Target="slides/slide156.xml"/><Relationship Id="rId168" Type="http://schemas.openxmlformats.org/officeDocument/2006/relationships/slide" Target="slides/slide157.xml"/><Relationship Id="rId169" Type="http://schemas.openxmlformats.org/officeDocument/2006/relationships/slide" Target="slides/slide158.xml"/><Relationship Id="rId170" Type="http://schemas.openxmlformats.org/officeDocument/2006/relationships/slide" Target="slides/slide159.xml"/><Relationship Id="rId171" Type="http://schemas.openxmlformats.org/officeDocument/2006/relationships/slide" Target="slides/slide160.xml"/><Relationship Id="rId172" Type="http://schemas.openxmlformats.org/officeDocument/2006/relationships/slide" Target="slides/slide161.xml"/><Relationship Id="rId173" Type="http://schemas.openxmlformats.org/officeDocument/2006/relationships/slide" Target="slides/slide162.xml"/><Relationship Id="rId174" Type="http://schemas.openxmlformats.org/officeDocument/2006/relationships/slide" Target="slides/slide163.xml"/><Relationship Id="rId175" Type="http://schemas.openxmlformats.org/officeDocument/2006/relationships/slide" Target="slides/slide164.xml"/><Relationship Id="rId176" Type="http://schemas.openxmlformats.org/officeDocument/2006/relationships/slide" Target="slides/slide165.xml"/><Relationship Id="rId177" Type="http://schemas.openxmlformats.org/officeDocument/2006/relationships/slide" Target="slides/slide166.xml"/><Relationship Id="rId178" Type="http://schemas.openxmlformats.org/officeDocument/2006/relationships/slide" Target="slides/slide167.xml"/><Relationship Id="rId179" Type="http://schemas.openxmlformats.org/officeDocument/2006/relationships/slide" Target="slides/slide168.xml"/><Relationship Id="rId180" Type="http://schemas.openxmlformats.org/officeDocument/2006/relationships/slide" Target="slides/slide169.xml"/><Relationship Id="rId181" Type="http://schemas.openxmlformats.org/officeDocument/2006/relationships/slide" Target="slides/slide170.xml"/><Relationship Id="rId182" Type="http://schemas.openxmlformats.org/officeDocument/2006/relationships/slide" Target="slides/slide171.xml"/><Relationship Id="rId183" Type="http://schemas.openxmlformats.org/officeDocument/2006/relationships/slide" Target="slides/slide172.xml"/><Relationship Id="rId184" Type="http://schemas.openxmlformats.org/officeDocument/2006/relationships/slide" Target="slides/slide173.xml"/><Relationship Id="rId185" Type="http://schemas.openxmlformats.org/officeDocument/2006/relationships/slide" Target="slides/slide174.xml"/><Relationship Id="rId186" Type="http://schemas.openxmlformats.org/officeDocument/2006/relationships/slide" Target="slides/slide175.xml"/><Relationship Id="rId187" Type="http://schemas.openxmlformats.org/officeDocument/2006/relationships/slide" Target="slides/slide176.xml"/><Relationship Id="rId188" Type="http://schemas.openxmlformats.org/officeDocument/2006/relationships/slide" Target="slides/slide177.xml"/><Relationship Id="rId189" Type="http://schemas.openxmlformats.org/officeDocument/2006/relationships/slide" Target="slides/slide178.xml"/><Relationship Id="rId190" Type="http://schemas.openxmlformats.org/officeDocument/2006/relationships/slide" Target="slides/slide179.xml"/><Relationship Id="rId191" Type="http://schemas.openxmlformats.org/officeDocument/2006/relationships/slide" Target="slides/slide180.xml"/><Relationship Id="rId192" Type="http://schemas.openxmlformats.org/officeDocument/2006/relationships/slide" Target="slides/slide181.xml"/><Relationship Id="rId193" Type="http://schemas.openxmlformats.org/officeDocument/2006/relationships/slide" Target="slides/slide182.xml"/><Relationship Id="rId194" Type="http://schemas.openxmlformats.org/officeDocument/2006/relationships/slide" Target="slides/slide183.xml"/><Relationship Id="rId195" Type="http://schemas.openxmlformats.org/officeDocument/2006/relationships/slide" Target="slides/slide184.xml"/><Relationship Id="rId196" Type="http://schemas.openxmlformats.org/officeDocument/2006/relationships/slide" Target="slides/slide185.xml"/><Relationship Id="rId197" Type="http://schemas.openxmlformats.org/officeDocument/2006/relationships/slide" Target="slides/slide186.xml"/><Relationship Id="rId198" Type="http://schemas.openxmlformats.org/officeDocument/2006/relationships/slide" Target="slides/slide187.xml"/><Relationship Id="rId199" Type="http://schemas.openxmlformats.org/officeDocument/2006/relationships/slide" Target="slides/slide188.xml"/><Relationship Id="rId200" Type="http://schemas.openxmlformats.org/officeDocument/2006/relationships/slide" Target="slides/slide189.xml"/><Relationship Id="rId201" Type="http://schemas.openxmlformats.org/officeDocument/2006/relationships/slide" Target="slides/slide190.xml"/><Relationship Id="rId202" Type="http://schemas.openxmlformats.org/officeDocument/2006/relationships/slide" Target="slides/slide191.xml"/><Relationship Id="rId203" Type="http://schemas.openxmlformats.org/officeDocument/2006/relationships/slide" Target="slides/slide192.xml"/><Relationship Id="rId204" Type="http://schemas.openxmlformats.org/officeDocument/2006/relationships/slide" Target="slides/slide193.xml"/><Relationship Id="rId205" Type="http://schemas.openxmlformats.org/officeDocument/2006/relationships/slide" Target="slides/slide194.xml"/><Relationship Id="rId206" Type="http://schemas.openxmlformats.org/officeDocument/2006/relationships/slide" Target="slides/slide195.xml"/><Relationship Id="rId207" Type="http://schemas.openxmlformats.org/officeDocument/2006/relationships/slide" Target="slides/slide196.xml"/><Relationship Id="rId208" Type="http://schemas.openxmlformats.org/officeDocument/2006/relationships/slide" Target="slides/slide197.xml"/><Relationship Id="rId209" Type="http://schemas.openxmlformats.org/officeDocument/2006/relationships/slide" Target="slides/slide198.xml"/><Relationship Id="rId210" Type="http://schemas.openxmlformats.org/officeDocument/2006/relationships/slide" Target="slides/slide199.xml"/><Relationship Id="rId211" Type="http://schemas.openxmlformats.org/officeDocument/2006/relationships/slide" Target="slides/slide200.xml"/><Relationship Id="rId212" Type="http://schemas.openxmlformats.org/officeDocument/2006/relationships/slide" Target="slides/slide201.xml"/><Relationship Id="rId213" Type="http://schemas.openxmlformats.org/officeDocument/2006/relationships/slide" Target="slides/slide202.xml"/><Relationship Id="rId214" Type="http://schemas.openxmlformats.org/officeDocument/2006/relationships/slide" Target="slides/slide203.xml"/><Relationship Id="rId215" Type="http://schemas.openxmlformats.org/officeDocument/2006/relationships/slide" Target="slides/slide204.xml"/><Relationship Id="rId216" Type="http://schemas.openxmlformats.org/officeDocument/2006/relationships/slide" Target="slides/slide205.xml"/><Relationship Id="rId217" Type="http://schemas.openxmlformats.org/officeDocument/2006/relationships/slide" Target="slides/slide206.xml"/><Relationship Id="rId218" Type="http://schemas.openxmlformats.org/officeDocument/2006/relationships/slide" Target="slides/slide207.xml"/><Relationship Id="rId219" Type="http://schemas.openxmlformats.org/officeDocument/2006/relationships/slide" Target="slides/slide208.xml"/><Relationship Id="rId220" Type="http://schemas.openxmlformats.org/officeDocument/2006/relationships/slide" Target="slides/slide209.xml"/><Relationship Id="rId224" Type="http://schemas.openxmlformats.org/officeDocument/2006/relationships/slide" Target="slides/slide210.xml"/><Relationship Id="rId225" Type="http://schemas.openxmlformats.org/officeDocument/2006/relationships/slide" Target="slides/slide211.xml"/><Relationship Id="rId226" Type="http://schemas.openxmlformats.org/officeDocument/2006/relationships/slide" Target="slides/slide2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145341"/>
            </a:solidFill>
          </c:spPr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Current</c:v>
                </c:pt>
                <c:pt idx="2">
                  <c:v>Target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40</c:v>
                </c:pt>
                <c:pt idx="2">
                  <c:v>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5ED39A"/>
            </a:solidFill>
          </c:spPr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Current</c:v>
                </c:pt>
                <c:pt idx="2">
                  <c:v>Target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45</c:v>
                </c:pt>
                <c:pt idx="1">
                  <c:v>45</c:v>
                </c:pt>
                <c:pt idx="2">
                  <c:v>45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145341"/>
            </a:solidFill>
          </c:spPr>
          <c:cat>
            <c:strRef>
              <c:f>Sheet1!$A$2:$A$5</c:f>
              <c:strCache>
                <c:ptCount val="4"/>
                <c:pt idx="0">
                  <c:v>Climate</c:v>
                </c:pt>
                <c:pt idx="1">
                  <c:v>Safety</c:v>
                </c:pt>
                <c:pt idx="2">
                  <c:v>Water</c:v>
                </c:pt>
                <c:pt idx="3">
                  <c:v>Circularity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4.6</c:v>
                </c:pt>
                <c:pt idx="1">
                  <c:v>4.4</c:v>
                </c:pt>
                <c:pt idx="2">
                  <c:v>3.6</c:v>
                </c:pt>
                <c:pt idx="3">
                  <c:v>4.1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5ED39A"/>
            </a:solidFill>
          </c:spPr>
          <c:cat>
            <c:strRef>
              <c:f>Sheet1!$A$2:$A$5</c:f>
              <c:strCache>
                <c:ptCount val="4"/>
                <c:pt idx="0">
                  <c:v>Climate</c:v>
                </c:pt>
                <c:pt idx="1">
                  <c:v>Safety</c:v>
                </c:pt>
                <c:pt idx="2">
                  <c:v>Water</c:v>
                </c:pt>
                <c:pt idx="3">
                  <c:v>Circularity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145341"/>
            </a:solidFill>
          </c:spPr>
          <c:cat>
            <c:strRef>
              <c:f>Sheet1!$A$2:$A$4</c:f>
              <c:strCache>
                <c:ptCount val="3"/>
                <c:pt idx="0">
                  <c:v>Source ledger</c:v>
                </c:pt>
                <c:pt idx="1">
                  <c:v>Disclosure ledger</c:v>
                </c:pt>
                <c:pt idx="2">
                  <c:v>Tolerance limit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12420</c:v>
                </c:pt>
                <c:pt idx="1">
                  <c:v>12480</c:v>
                </c:pt>
                <c:pt idx="2">
                  <c:v>12451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5ED39A"/>
            </a:solidFill>
          </c:spPr>
          <c:cat>
            <c:strRef>
              <c:f>Sheet1!$A$2:$A$4</c:f>
              <c:strCache>
                <c:ptCount val="3"/>
                <c:pt idx="0">
                  <c:v>Source ledger</c:v>
                </c:pt>
                <c:pt idx="1">
                  <c:v>Disclosure ledger</c:v>
                </c:pt>
                <c:pt idx="2">
                  <c:v>Tolerance limit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12420</c:v>
                </c:pt>
                <c:pt idx="1">
                  <c:v>12420</c:v>
                </c:pt>
                <c:pt idx="2">
                  <c:v>12420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145341"/>
            </a:solidFill>
          </c:spPr>
          <c:cat>
            <c:strRef>
              <c:f>Sheet1!$A$2:$A$5</c:f>
              <c:strCache>
                <c:ptCount val="4"/>
                <c:pt idx="0">
                  <c:v>Efficiency</c:v>
                </c:pt>
                <c:pt idx="1">
                  <c:v>Solar PPA</c:v>
                </c:pt>
                <c:pt idx="2">
                  <c:v>Materials</c:v>
                </c:pt>
                <c:pt idx="3">
                  <c:v>Take-back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-202</c:v>
                </c:pt>
                <c:pt idx="1">
                  <c:v>24</c:v>
                </c:pt>
                <c:pt idx="2">
                  <c:v>164</c:v>
                </c:pt>
                <c:pt idx="3">
                  <c:v>373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5ED39A"/>
            </a:solidFill>
          </c:spPr>
          <c:cat>
            <c:strRef>
              <c:f>Sheet1!$A$2:$A$5</c:f>
              <c:strCache>
                <c:ptCount val="4"/>
                <c:pt idx="0">
                  <c:v>Efficiency</c:v>
                </c:pt>
                <c:pt idx="1">
                  <c:v>Solar PPA</c:v>
                </c:pt>
                <c:pt idx="2">
                  <c:v>Materials</c:v>
                </c:pt>
                <c:pt idx="3">
                  <c:v>Take-back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45</c:v>
                </c:pt>
                <c:pt idx="1">
                  <c:v>45</c:v>
                </c:pt>
                <c:pt idx="2">
                  <c:v>45</c:v>
                </c:pt>
                <c:pt idx="3">
                  <c:v>45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ustainability-executive-hero-v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00584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Sustainability Reporting Masterclass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832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C797</a:t>
            </a:r>
            <a:br/>
            <a:r>
              <a:t>Version 1.0 • 01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© Tertiary Infotech Academy Pte Ltd. | UEN 201200696W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Trainer profile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WHAT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? avatar • verified qualifications • relevant experience • adult-education credentials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Confirm the displayed course, run and learner record.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Trainer / course administrator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Retain the approved attendance record.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TRAINER EVIDENCE FIELDS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Dr Alfred 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WHAT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Named trainer • profile details require verified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Confirm the displayed course, run and learner record.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Trainer / course administrator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Retain the approved attendance record.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NAMED PROFILE PLACEHOLDER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Two-day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WHAT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Day 1: LU1–2 • Day 2: LU3–4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Confirm the displayed course, run and learner record.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Trainer / course administrator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Retain the approved attendance record.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DELIVERY ROADMAP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Activity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WHAT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Option appraisal • materiality • controls • decarbonisation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Confirm the displayed course, run and learner record.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Trainer / course administrator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Retain the approved attendance record.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FOUR-ACTIVITY TRACE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Engineering research currency: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Research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TRL–evidence matrix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TRL–EVIDENCE MATRIX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Engineering research currency: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Evidence score = recency × relevance × reproducibility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6 current studies × 0.9 relevance × 0.8 reproducibility = 4.32 weighted evidence units; hold endorsement below 4.0.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Endorse only with verified operating evidence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EVIDENCE SCORE = RECENCY × RELEVANCE × REPRODUCIBILITY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Engineering research currency: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Research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Engineering research currency boundary; reporting period; Evidence score = recency × relevance × reproducibility;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Outdated pilot used as proof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RESEARCH REGISTER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Engineering research currency: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Outdated pilot used as proof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Endorse only with verified operating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OUTDATED PILOT USED AS PROOF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Engineering research currency: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Research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Evidence score = recency × relevance × reproducibility Worked basis: 6 current studies × 0.9 relevance × 0.8 reproducibility = 4.32 weighted evidence units; hold endorsement below 4.0.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Endorse only with verified operating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Engineering research currency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ENDORSE ONLY WITH VERIFIED OPERATING EVIDENCE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Sustainability system boundary: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Mass-balance worksheet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Input–process–output boundary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INPUT–PROCESS–OUTPUT BOUNDARY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Sustainability system boundary: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Balance variance = inputs − outputs − stock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1,000 t input − 720 t product − 210 t recovered − 55 t waste = 15 t unexplained variance (1.5%); investigate above 1%.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Freeze boundary before option comparison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BALANCE VARIANCE = INPUTS − OUTPUTS − STOCK CHANGE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Sustainability system boundary: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Mass-balance worksheet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Sustainability system boundary boundary; reporting period; Balance variance = inputs − outputs − stock change;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Scope shifted to improve result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MASS-BALANCE WORKSHEET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Sustainability system boundary: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Scope shifted to improve result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Freeze boundary before option comparison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SCOPE SHIFTED TO IMPROVE RESULT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Sustainability system boundary: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Mass-balance worksheet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Balance variance = inputs − outputs − stock change Worked basis: 1,000 t input − 720 t product − 210 t recovered − 55 t waste = 15 t unexplained variance (1.5%); investigate above 1%.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Freeze boundary before option comparison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Sustainability system boundary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FREEZE BOUNDARY BEFORE OPTION COMPARISON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Public policy horizon: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Policy obligations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Policy-to-design trace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POLICY-TO-DESIGN TRACE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Public policy horizon: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Compliance lead time = effective date − design freeze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Obligation starts 1 Jan 2028; design freeze 1 Jul 2026 → 18-month lead time; trigger specification update now.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Label enacted, proposed and voluntary separately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COMPLIANCE LEAD TIME = EFFECTIVE DATE − DESIGN FREEZE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Public policy horizon: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Policy obligations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Public policy horizon boundary; reporting period; Compliance lead time = effective date − design freeze;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Consultation treated as law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POLICY OBLIGATIONS REGISTER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Public policy horizon: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Consultation treated as law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Label enacted, proposed and voluntary separately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CONSULTATION TREATED AS LAW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Public policy horizon: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Policy obligations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Compliance lead time = effective date − design freeze Worked basis: Obligation starts 1 Jan 2028; design freeze 1 Jul 2026 → 18-month lead time; trigger specification update now.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Label enacted, proposed and voluntary separately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Public policy horizon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LABEL ENACTED, PROPOSED AND VOLUNTARY SEPARATELY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Energy management: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Meter-to-KPI evidence chain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Energy baseline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ENERGY BASELINE MODEL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Energy management: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Intensity = kWh ÷ production unit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120,000 kWh ÷ 10,000 units = 12.0 kWh/unit versus 13.5 baseline → 11.1% improvement.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Normalise before claiming improvement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INTENSITY = KWH ÷ PRODUCTION UNIT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Energy management: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Meter-to-KPI evidence chain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Energy management boundary; reporting period; Intensity = kWh ÷ production unit;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Weather/volume effect ignored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METER-TO-KPI EVIDENCE CHAIN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Energy management: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Weather/volume effect ignored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Normalise before claiming improvement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WEATHER/VOLUME EFFECT IGNORED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SOURCE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LU1 retained source evidence: annotated decision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25</a:t>
            </a:r>
          </a:p>
        </p:txBody>
      </p:sp>
      <p:pic>
        <p:nvPicPr>
          <p:cNvPr id="7" name="Picture 6" descr="lu1-original-evidence-source-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537960" cy="4389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79" y="1444752"/>
            <a:ext cx="3977639" cy="11430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60934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94767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62C"/>
                </a:solidFill>
                <a:latin typeface="Aptos"/>
              </a:defRPr>
            </a:pPr>
            <a:r>
              <a:t>Original slide 22 from the master trainer slides.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2889504"/>
            <a:ext cx="3977639" cy="11430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305409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392424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62C"/>
                </a:solidFill>
                <a:latin typeface="Aptos"/>
              </a:defRPr>
            </a:pPr>
            <a:r>
              <a:t>Inspect the depicted sustainability mechanism; name its system boundary, operating evidence and endorsement condition.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4334256"/>
            <a:ext cx="3977639" cy="11430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449884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837176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62C"/>
                </a:solidFill>
                <a:latin typeface="Aptos"/>
              </a:defRPr>
            </a:pPr>
            <a:r>
              <a:t>Record boundary, method, owner, threshold and source citation before using the evidence.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Water stewardship: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Water-flow diagram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Site water balance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SITE WATER BALANCE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Water stewardship: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Reuse rate = reused water ÷ total demand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48,000 m³ reused ÷ 120,000 m³ demand = 40% reuse; target 45% → 5 percentage-point gap.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Approve only after catchment context review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REUSE RATE = REUSED WATER ÷ TOTAL DEMAND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Water stewardship: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Water-flow diagram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Water stewardship boundary; reporting period; Reuse rate = reused water ÷ total demand;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Withdrawal confused with consumption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WATER-FLOW DIAGRAM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Water stewardship: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Withdrawal confused with consumption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Approve only after catchment context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WITHDRAWAL CONFUSED WITH CONSUMPTION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Water stewardship: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30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1417320"/>
          <a:ext cx="681228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909560" y="1554480"/>
            <a:ext cx="3566160" cy="16002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7556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148840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262C"/>
                </a:solidFill>
                <a:latin typeface="Aptos"/>
              </a:defRPr>
            </a:pPr>
            <a:r>
              <a:t>Water-flow diagram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566160"/>
            <a:ext cx="3566160" cy="16002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37673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4160520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262C"/>
                </a:solidFill>
                <a:latin typeface="Aptos"/>
              </a:defRPr>
            </a:pPr>
            <a:r>
              <a:t>Reuse rate = reused water ÷ total demand Worked basis: 48,000 m³ reused ÷ 120,000 m³ demand = 40% reuse; target 45% → 5 percentage-point gap.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APPROVE ONLY AFTER CATCHMENT CONTEXT REVIEW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Engineering option appraisal: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CAPEX/payback/impact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Weighted option matrix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WEIGHTED OPTION MATRIX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Engineering option appraisal: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Score = Σ rating × weight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(4×25%)+(5×25%)+(3×15%)+(4×20%)+(4×15%) = 4.10/5; approve above 3.5.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Approve weights before scoring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SCORE = Σ RATING × WEIGHT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Engineering option appraisal: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CAPEX/payback/impact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Engineering option appraisal boundary; reporting period; Score = Σ rating × weight;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Weights chosen after seeing result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CAPEX/PAYBACK/IMPACT TABLE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Engineering option appraisal: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Weights chosen after seeing result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Approve weights before scoring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WEIGHTS CHOSEN AFTER SEEING RESULT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Engineering option appraisal: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CAPEX/payback/impact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Score = Σ rating × weight Worked basis: (4×25%)+(5×25%)+(3×15%)+(4×20%)+(4×15%) = 4.10/5; approve above 3.5.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Approve weights before scoring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Engineering option appraisal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APPROVE WEIGHTS BEFORE SCORING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Life-cycle thinking: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Cradle-to-gate inventory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Life-cycle stage map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LIFE-CYCLE STAGE MAP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Life-cycle thinking: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Impact = Σ activity data × factor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2,000 kg steel × 1.9 kgCO2e/kg = 3,800 kgCO2e; compare per identical functional unit.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Compare identical functional units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IMPACT = Σ ACTIVITY DATA × FACTOR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Life-cycle thinking: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Cradle-to-gate inventory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Life-cycle thinking boundary; reporting period; Impact = Σ activity data × factor;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Burden shifted to supplier stage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CRADLE-TO-GATE INVENTORY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Life-cycle thinking: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Burden shifted to supplier stage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Compare identical functional units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BURDEN SHIFTED TO SUPPLIER STAGE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Life-cycle thinking: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Cradle-to-gate inventory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Impact = Σ activity data × factor Worked basis: 2,000 kg steel × 1.9 kgCO2e/kg = 3,800 kgCO2e; compare per identical functional unit.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Compare identical functional units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Life-cycle thinking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COMPARE IDENTICAL FUNCTIONAL UNITS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Climate physical risk: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41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Asset risk heatmap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Hazard–exposure–vulnerability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HAZARD–EXPOSURE–VULNERABILITY MODEL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Climate physical risk: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Risk = hazard × exposure × vulnerability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Hazard 5 × exposure 4 × vulnerability 3 = 60/125; escalate scores ≥50.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Escalate high-consequence sites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RISK = HAZARD × EXPOSURE × VULNERABILITY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Climate physical risk: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43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Asset risk heatmap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Climate physical risk boundary; reporting period; Risk = hazard × exposure × vulnerability;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Corporate average hides critical asset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ASSET RISK HEATMAP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Climate physical risk: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44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Corporate average hides critical asset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Escalate high-consequence sites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CORPORATE AVERAGE HIDES CRITICAL ASSET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Climate physical risk: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Asset risk heatmap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Risk = hazard × exposure × vulnerability Worked basis: Hazard 5 × exposure 4 × vulnerability 3 = 60/125; escalate scores ≥50.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Escalate high-consequence sites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Climate physical risk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ESCALATE HIGH-CONSEQUENCE SITES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Technology readiness: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46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Pilot acceptance record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Stage-gate evidence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STAGE-GATE EVIDENCE MODEL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Technology readiness: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47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Readiness gap = required TRL − current TRL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Required TRL 8 − current TRL 6 = 2-stage gap; require pilot gate before endorsement.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Endorse conditionally with test gate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READINESS GAP = REQUIRED TRL − CURRENT TRL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Technology readiness: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48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Pilot acceptance record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Technology readiness boundary; reporting period; Readiness gap = required TRL − current TRL;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Vendor claim replaces test evidence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PILOT ACCEPTANCE RECORD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Technology readiness: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49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Vendor claim replaces test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Endorse conditionally with test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VENDOR CLAIM REPLACES TEST EVIDENCE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Technology readiness: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Pilot acceptance record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Readiness gap = required TRL − current TRL Worked basis: Required TRL 8 − current TRL 6 = 2-stage gap; require pilot gate before endorsement.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Endorse conditionally with test gate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Technology readiness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ENDORSE CONDITIONALLY WITH TEST GATE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Engineering endorsement: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51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Signed engineering memo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Decision-rights workflow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DECISION-RIGHTS WORKFLOW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Engineering endorsement: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52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Confidence = verified fields ÷ required fields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5 verified fields ÷ 6 required = 83%; hold below 100% when compliance evidence is missing.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Endorse with conditions, owner and review date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CONFIDENCE = VERIFIED FIELDS ÷ REQUIRED FIELDS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Engineering endorsement: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53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Signed engineering memo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Engineering endorsement boundary; reporting period; Confidence = verified fields ÷ required fields;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No residual-risk owner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SIGNED ENGINEERING MEMO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Engineering endorsement: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No residual-risk owner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Endorse with conditions, owner and review 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NO RESIDUAL-RISK OWNER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Engineering endorsement: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55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Signed engineering memo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Confidence = verified fields ÷ required fields Worked basis: 5 verified fields ÷ 6 required = 83%; hold below 100% when compliance evidence is missing.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Endorse with conditions, owner and review date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Engineering endorsement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ENDORSE WITH CONDITIONS, OWNER AND REVIEW DATE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Environmental economics: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56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Scenario cashflow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Externality-to-cashflow map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EXTERNALITY-TO-CASHFLOW MAP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Environmental economics: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57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NPV = Σ cash flow/(1+r)^t − investment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PV benefits S$620k − PV costs S$500k = NPV S$120k; test at 8% discount rate.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Test base, upside and downside cases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NPV = Σ CASH FLOW/(1+R)^T − INVESTMENT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Environmental economics: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58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Scenario cashflow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Environmental economics boundary; reporting period; NPV = Σ cash flow/(1+r)^t − investment;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Carbon price omitted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SCENARIO CASHFLOW TABLE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Environmental economics: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59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Carbon price omitted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Test base, upside and downside cases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CARBON PRICE OMITTED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Environmental economics: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Scenario cashflow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NPV = Σ cash flow/(1+r)^t − investment Worked basis: PV benefits S$620k − PV costs S$500k = NPV S$120k; test at 8% discount rate.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Test base, upside and downside cases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Environmental economics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TEST BASE, UPSIDE AND DOWNSIDE CASES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Stakeholder mapping: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61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Stakeholder evidence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Power–interest–impact matrix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POWER–INTEREST–IMPACT MATRIX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Stakeholder mapping: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62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Priority = significance × influence × exposure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Significance 5 × influence 4 × exposure 3 = 60/125; priority threshold ≥48.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Use documented scoring anchors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PRIORITY = SIGNIFICANCE × INFLUENCE × EXPOSURE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Stakeholder mapping: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63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Stakeholder evidence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Stakeholder mapping boundary; reporting period; Priority = significance × influence × exposure;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Loudest voice treated as material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STAKEHOLDER EVIDENCE REGISTER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Stakeholder mapping: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64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Loudest voice treated as material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Use documented scoring anchors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LOUDEST VOICE TREATED AS MATERIAL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Stakeholder mapping: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65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Stakeholder evidence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Priority = significance × influence × exposure Worked basis: Significance 5 × influence 4 × exposure 3 = 60/125; priority threshold ≥48.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Use documented scoring anchors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Stakeholder mapping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USE DOCUMENTED SCORING ANCHORS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Double materiality: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66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5×5 materiality matrix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Impact/financial lens crosswalk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IMPACT/FINANCIAL LENS CROSSWALK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Double materiality: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67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Priority = max(impact score, financial score)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Impact 4.6, financial 3.8 → priority=max(4.6,3.8)=4.6; include at threshold ≥4.0.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Report lens and threshold explicitly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PRIORITY = MAX(IMPACT SCORE, FINANCIAL SCORE)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Double materiality: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68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5×5 materiality matrix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Double materiality boundary; reporting period; Priority = max(impact score, financial score);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Two lenses merged without explanation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5×5 MATERIALITY MATRIX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Double materiality: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69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Two lenses merged without explanation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Report lens and threshold explicitly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TWO LENSES MERGED WITHOUT EXPLANATION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Double materiality: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70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1417320"/>
          <a:ext cx="681228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909560" y="1554480"/>
            <a:ext cx="3566160" cy="16002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7556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148840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262C"/>
                </a:solidFill>
                <a:latin typeface="Aptos"/>
              </a:defRPr>
            </a:pPr>
            <a:r>
              <a:t>5×5 materiality matrix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566160"/>
            <a:ext cx="3566160" cy="16002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37673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4160520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262C"/>
                </a:solidFill>
                <a:latin typeface="Aptos"/>
              </a:defRPr>
            </a:pPr>
            <a:r>
              <a:t>Priority = max(impact score, financial score) Worked basis: Impact 4.6, financial 3.8 → priority=max(4.6,3.8)=4.6; include at threshold ≥4.0.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REPORT LENS AND THRESHOLD EXPLICITLY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ESG strategy: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71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Strategy-on-a-page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Issue-to-objective cascade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ISSUE-TO-OBJECTIVE CASCADE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ESG strategy: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72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Gap = target − forecast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2030 target 50% − forecast 38% = 12 percentage-point gap requiring funded initiatives.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Fund only initiatives tied to KPI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GAP = TARGET − FORECAST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ESG strategy: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73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Strategy-on-a-page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ESG strategy boundary; reporting period; Gap = target − forecast;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Initiative has no target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STRATEGY-ON-A-PAGE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ESG strategy: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74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Initiative has no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Fund only initiatives tied to KPI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INITIATIVE HAS NO TARGET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SOURCE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LU2 retained source evidence: annotated decision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75</a:t>
            </a:r>
          </a:p>
        </p:txBody>
      </p:sp>
      <p:pic>
        <p:nvPicPr>
          <p:cNvPr id="7" name="Picture 6" descr="lu2-original-evidence-source-slide-2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537960" cy="4389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79" y="1444752"/>
            <a:ext cx="3977639" cy="11430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60934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94767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62C"/>
                </a:solidFill>
                <a:latin typeface="Aptos"/>
              </a:defRPr>
            </a:pPr>
            <a:r>
              <a:t>Original slide 200 from the master trainer slides.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2889504"/>
            <a:ext cx="3977639" cy="11430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305409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392424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62C"/>
                </a:solidFill>
                <a:latin typeface="Aptos"/>
              </a:defRPr>
            </a:pPr>
            <a:r>
              <a:t>Use the source visual to identify stakeholder/market evidence, then connect it to a measurable strategic KPI.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4334256"/>
            <a:ext cx="3977639" cy="11430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449884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837176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62C"/>
                </a:solidFill>
                <a:latin typeface="Aptos"/>
              </a:defRPr>
            </a:pPr>
            <a:r>
              <a:t>Record boundary, method, owner, threshold and source citation before using the evidence.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Sustainability scorecard: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76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Owner/cadence/tolerance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KPI definition sheet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KPI DEFINITION SHEET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Sustainability scorecard: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77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Variance = actual −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Actual 64% − target 70% = −6 points; red when more than 5 points below target.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Change control every definition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VARIANCE = ACTUAL − TARGET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Sustainability scorecard: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78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Owner/cadence/tolerance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Sustainability scorecard boundary; reporting period; Variance = actual − target;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Metric boundary changes mid-year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OWNER/CADENCE/TOLERANCE TABLE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Sustainability scorecard: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79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Metric boundary changes mid-year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Change control every definition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METRIC BOUNDARY CHANGES MID-YEAR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Sustainability scorecard: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80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Owner/cadence/tolerance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Variance = actual − target Worked basis: Actual 64% − target 70% = −6 points; red when more than 5 points below target.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Change control every definition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Sustainability scorecard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CHANGE CONTROL EVERY DEFINITION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Peer benchmarking: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81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Peer-normalisation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Like-for-like comparison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LIKE-FOR-LIKE COMPARISON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Peer benchmarking: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82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Indexed performance = company ÷ peer median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Company 78 ÷ peer median 65 = 1.20 index; validate identical boundary before conclusion.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Reject non-comparable metrics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INDEXED PERFORMANCE = COMPANY ÷ PEER MEDIAN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Peer benchmarking: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83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Peer-normalisation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Peer benchmarking boundary; reporting period; Indexed performance = company ÷ peer median;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Different boundary/period compared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PEER-NORMALISATION TABLE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Peer benchmarking: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84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Different boundary/period compared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Reject non-comparable 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DIFFERENT BOUNDARY/PERIOD COMPARED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Peer benchmarking: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85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Peer-normalisation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Indexed performance = company ÷ peer median Worked basis: Company 78 ÷ peer median 65 = 1.20 index; validate identical boundary before conclusion.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Reject non-comparable metrics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Peer benchmarking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REJECT NON-COMPARABLE METRICS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ESG ratings: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86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Ratings divergence matrix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Rating-methodology trace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RATING-METHODOLOGY TRACE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ESG ratings: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87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Sensitivity = score change per assumption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Assumption change +1 causes score +0.35; sensitivity 0.35 points per assumption unit.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Use ratings as signals, not assurance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SENSITIVITY = SCORE CHANGE PER ASSUMPTION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ESG ratings: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88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Ratings divergence matrix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ESG ratings boundary; reporting period; Sensitivity = score change per assumption;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One rating treated as ground truth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RATINGS DIVERGENCE MATRIX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ESG ratings: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89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One rating treated as ground truth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Use ratings as signals, not assurance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ONE RATING TREATED AS GROUND TRUTH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ESG ratings: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90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Ratings divergence matrix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Sensitivity = score change per assumption Worked basis: Assumption change +1 causes score +0.35; sensitivity 0.35 points per assumption unit.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Use ratings as signals, not assurance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ESG ratings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USE RATINGS AS SIGNALS, NOT ASSURANCE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Risk treatment: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91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Risk/control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Bow-tie control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BOW-TIE CONTROL MODEL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Risk treatment: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92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Residual risk = inherent risk × (1 − control effectiveness)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Inherent risk 20 × (1 − 70% control effectiveness) = residual risk 6; accept threshold ≤8.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Test design and operating effectiveness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RESIDUAL RISK = INHERENT RISK × (1 − CONTROL EFFECTIVENESS)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Risk treatment: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93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Risk/control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Risk treatment boundary; reporting period; Residual risk = inherent risk × (1 − control effectiveness);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Control exists only on paper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RISK/CONTROL REGISTER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Risk treatment: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94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Control exists only on paper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Test design and operating effectiveness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CONTROL EXISTS ONLY ON PAPER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Risk treatment: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95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Risk/control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Residual risk = inherent risk × (1 − control effectiveness) Worked basis: Inherent risk 20 × (1 − 70% control effectiveness) = residual risk 6; accept threshold ≤8.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Test design and operating effectiveness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Risk treatment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TEST DESIGN AND OPERATING EFFECTIVENESS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Market positioning: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96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Claims evidence library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Claim–proof–audience canvas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CLAIM–PROOF–AUDIENCE CANVAS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Market positioning: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97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Proof coverage = supported claims ÷ total claims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8 supported claims ÷ 10 total claims = 80% proof coverage; remove two unsupported claims.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Legal and evidence gate before release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PROOF COVERAGE = SUPPORTED CLAIMS ÷ TOTAL CLAIMS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Market positioning: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98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Claims evidence library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Market positioning boundary; reporting period; Proof coverage = supported claims ÷ total claims;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Aspirational claim stated as achieved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CLAIMS EVIDENCE LIBRARY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Market positioning: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99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Aspirational claim stated as achieved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Legal and evidence gate before release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ASPIRATIONAL CLAIM STATED AS ACHIEVED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Market positioning: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Claims evidence library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Proof coverage = supported claims ÷ total claims Worked basis: 8 supported claims ÷ 10 total claims = 80% proof coverage; remove two unsupported claims.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Legal and evidence gate before release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Market positioning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LEGAL AND EVIDENCE GATE BEFORE RELEASE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Portfolio governance: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Portfolio bubble 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Initiative stage-gate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INITIATIVE STAGE-GATE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Portfolio governance: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Portfolio score = 40% impact + 35% value + 25% feasibility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0.40×impact 4.5 + 0.35×value 4.0 + 0.25×feasibility 3.0 = 3.95/5.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Prioritise scores ≥3.5/5, then test portfolio balance and dependencies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PORTFOLIO SCORE = 40% IMPACT + 35% VALUE + 25% FEASIBILITY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Portfolio governance: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Portfolio bubble 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Portfolio governance boundary; reporting period; Portfolio score = 40% impact + 35% value + 25% feasibility;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Easy projects crowd out material risks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PORTFOLIO BUBBLE CHART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Portfolio governance: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Easy projects crowd out material risks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Prioritise scores ≥3.5/5, then test portfolio balance and dependencies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EASY PROJECTS CROWD OUT MATERIAL RISKS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Portfolio governance: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Portfolio bubble 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Portfolio score = 40% impact + 35% value + 25% feasibility Worked basis: 0.40×impact 4.5 + 0.35×value 4.0 + 0.25×feasibility 3.0 = 3.95/5.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Prioritise scores ≥3.5/5, then test portfolio balance and dependencies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Portfolio governance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PRIORITISE SCORES ≥3.5/5, THEN TEST PORTFOLIO BALANCE AND DEPENDENCIES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IFRS S1 architecture: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IFRS S1 crosswalk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Governance–strategy–risk–metrics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GOVERNANCE–STRATEGY–RISK–METRICS MODEL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IFRS S1 architecture: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Coverage = disclosed requirements ÷ applicable requirements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31 evidenced requirements ÷ 36 applicable = 86% coverage; close five gaps before issue.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Trace every disclosure to evidence owner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COVERAGE = DISCLOSED REQUIREMENTS ÷ APPLICABLE REQUIREMENTS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IFRS S1 architecture: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IFRS S1 crosswalk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IFRS S1 architecture boundary; reporting period; Coverage = disclosed requirements ÷ applicable requirements;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Boilerplate without entity facts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IFRS S1 CROSSWALK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IFRS S1 architecture: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Boilerplate without entity facts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Trace every disclosure to evidence owner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BOILERPLATE WITHOUT ENTITY FACTS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IFRS S1 architecture: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IFRS S1 crosswalk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Coverage = disclosed requirements ÷ applicable requirements Worked basis: 31 evidenced requirements ÷ 36 applicable = 86% coverage; close five gaps before issue.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Trace every disclosure to evidence owner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IFRS S1 architecture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TRACE EVERY DISCLOSURE TO EVIDENCE OWNER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IFRS S2 climate: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Climate metrics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Climate disclosure chain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CLIMATE DISCLOSURE CHAIN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IFRS S2 climate: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Financed/operational emissions = activity × factor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1,250,000 kWh × 0.408 kgCO2e/kWh = 510 tCO2e; record factor source/year.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Label assumptions and uncertainty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FINANCED/OPERATIONAL EMISSIONS = ACTIVITY × FACTOR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IFRS S2 climate: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Climate metrics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IFRS S2 climate boundary; reporting period; Financed/operational emissions = activity × factor;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Scenario result presented as forecast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CLIMATE METRICS REGISTER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IFRS S2 climate: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Scenario result presented as forecast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Label assumptions and uncertainty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SCENARIO RESULT PRESENTED AS FORECAST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IFRS S2 climate: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Climate metrics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Financed/operational emissions = activity × factor Worked basis: 1,250,000 kWh × 0.408 kgCO2e/kWh = 510 tCO2e; record factor source/year.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Label assumptions and uncertainty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IFRS S2 climate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LABEL ASSUMPTIONS AND UNCERTAINTY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GRI reporting: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GRI content index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Material-topic reporting 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MATERIAL-TOPIC REPORTING FLOW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GRI reporting: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Management effectiveness = outcome ÷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Outcome 72% ÷ target 80% = 90% effectiveness; explain 8-point outcome gap.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Document determination and omission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MANAGEMENT EFFECTIVENESS = OUTCOME ÷ TARGET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GRI reporting: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GRI content index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GRI reporting boundary; reporting period; Management effectiveness = outcome ÷ target;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Topic omitted without rationale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GRI CONTENT INDEX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GRI reporting: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Topic omitted without rationale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Document determination and omission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TOPIC OMITTED WITHOUT RATIONALE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GRI reporting: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GRI content index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Management effectiveness = outcome ÷ target Worked basis: Outcome 72% ÷ target 80% = 90% effectiveness; explain 8-point outcome gap.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Document determination and omission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GRI reporting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DOCUMENT DETERMINATION AND OMISSION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SGX reporting: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SGX compliance checklist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Board-to-disclosure accountability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BOARD-TO-DISCLOSURE ACCOUNTABILITY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SGX reporting: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Readiness = completed controls ÷ required controls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18 completed controls ÷ 22 required = 81.8% readiness; four controls remain open.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Verify live rulebook each delivery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READINESS = COMPLETED CONTROLS ÷ REQUIRED CONTROLS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SGX reporting: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SGX compliance checklist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SGX reporting boundary; reporting period; Readiness = completed controls ÷ required controls;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Old roadmap date reused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SGX COMPLIANCE CHECKLIST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SGX reporting: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Old roadmap date reused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Verify live rulebook each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OLD ROADMAP DATE REUSED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SOURCE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LU3 retained source evidence: annotated decision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125</a:t>
            </a:r>
          </a:p>
        </p:txBody>
      </p:sp>
      <p:pic>
        <p:nvPicPr>
          <p:cNvPr id="7" name="Picture 6" descr="lu3-original-evidence-source-slide-3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537960" cy="4389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79" y="1444752"/>
            <a:ext cx="3977639" cy="11430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60934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94767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62C"/>
                </a:solidFill>
                <a:latin typeface="Aptos"/>
              </a:defRPr>
            </a:pPr>
            <a:r>
              <a:t>Original slide 337 from the master trainer slides.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2889504"/>
            <a:ext cx="3977639" cy="11430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305409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392424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62C"/>
                </a:solidFill>
                <a:latin typeface="Aptos"/>
              </a:defRPr>
            </a:pPr>
            <a:r>
              <a:t>Trace the reporting artifact to requirement, metric owner, calculation and retained assurance evidence.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4334256"/>
            <a:ext cx="3977639" cy="11430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449884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837176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62C"/>
                </a:solidFill>
                <a:latin typeface="Aptos"/>
              </a:defRPr>
            </a:pPr>
            <a:r>
              <a:t>Record boundary, method, owner, threshold and source citation before using the evidence.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Singapore roadmap: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Applicability decision 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Entity/year applicability decision table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ENTITY/YEAR APPLICABILITY DECISION TABLE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Singapore roadmap: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 fields: listing/entity category; FY; framework; assurance phase; source date; outcome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Example decision table: STI constituent; FY2027; ISSB-aligned climate disclosure; assurance/phasing status checked against ACRA 25 Aug 2025 roadmap → applicability review required before conclusion.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Separate law, rule and consultation; verify ACRA/SGX source and effective date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DECISION FIELDS: LISTING/ENTITY CATEGORY; FY; FRAMEWORK; ASSURANCE PHASE; SOURCE DATE; OUTCOME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Singapore roadmap: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Applicability decision 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Singapore roadmap boundary; reporting period; Decision fields: listing/entity category; FY; framework; assurance phase; source date; outcome;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Draft SDS treated as enacted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APPLICABILITY DECISION LOG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Singapore roadmap: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Draft SDS treated as enacted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Separate law, rule and consultation; verify ACRA/SGX source and effective 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DRAFT SDS TREATED AS ENACTED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Singapore roadmap: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Applicability decision 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 fields: listing/entity category; FY; framework; assurance phase; source date; outcome Worked basis: Example decision table: STI constituent; FY2027; ISSB-aligned climate disclosure; assurance/phasing status checked against ACRA 25 Aug 2025 roadmap → applicability review required before conclusion.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Separate law, rule and consultation; verify ACRA/SGX source and effective date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Singapore roadmap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SEPARATE LAW, RULE AND CONSULTATION; VERIFY ACRA/SGX SOURCE AND EFFECTIVE DATE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Data collection: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Data lineage 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Source-to-report lineage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SOURCE-TO-REPORT LINEAGE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Data collection: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Reconciliation variance = ledger − disclosure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Disclosure ledger 12,480 t − source ledger 12,420 t = 60 t variance (0.48%); tolerance 0.25%.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Retain immutable source and approvals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RECONCILIATION VARIANCE = LEDGER − DISCLOSURE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Data collection: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Data lineage 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Data collection boundary; reporting period; Reconciliation variance = ledger − disclosure;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Spreadsheet overwrite breaks trace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DATA LINEAGE MAP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Data collection: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Spreadsheet overwrite breaks trace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Retain immutable source and approvals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SPREADSHEET OVERWRITE BREAKS TRACE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Data collection: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135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1417320"/>
          <a:ext cx="681228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909560" y="1554480"/>
            <a:ext cx="3566160" cy="16002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7556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148840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262C"/>
                </a:solidFill>
                <a:latin typeface="Aptos"/>
              </a:defRPr>
            </a:pPr>
            <a:r>
              <a:t>Data lineage 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566160"/>
            <a:ext cx="3566160" cy="16002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37673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4160520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262C"/>
                </a:solidFill>
                <a:latin typeface="Aptos"/>
              </a:defRPr>
            </a:pPr>
            <a:r>
              <a:t>Reconciliation variance = ledger − disclosure Worked basis: Disclosure ledger 12,480 t − source ledger 12,420 t = 60 t variance (0.48%); tolerance 0.25%.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RETAIN IMMUTABLE SOURCE AND APPROVALS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Metric controls: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Control design sheet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Prevent–detect–correct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PREVENT–DETECT–CORRECT MODEL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Metric controls: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Control risk = likelihood × disclosure impact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Likelihood 4 × disclosure impact 5 = risk 20; mandatory escalation at ≥15.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Segregate preparation and approval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CONTROL RISK = LIKELIHOOD × DISCLOSURE IMPACT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Metric controls: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Control design sheet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Metric controls boundary; reporting period; Control risk = likelihood × disclosure impact;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 and reviewer are same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CONTROL DESIGN SHEET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Metric controls: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 and reviewer are same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Segregate preparation and approval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OWNER AND REVIEWER ARE SAME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Metric controls: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Control design sheet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Control risk = likelihood × disclosure impact Worked basis: Likelihood 4 × disclosure impact 5 = risk 20; mandatory escalation at ≥15.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Segregate preparation and approval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Metric controls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SEGREGATE PREPARATION AND APPROVAL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Assurance readiness: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141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Assurance PBC 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Evidence sufficiency matrix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EVIDENCE SUFFICIENCY MATRIX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Assurance readiness: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Exception rate = failed samples ÷ tested samples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3 failed samples ÷ 40 tested = 7.5% exception rate; remediate above 5%.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Test high-risk assertions first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EXCEPTION RATE = FAILED SAMPLES ÷ TESTED SAMPLES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Assurance readiness: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143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Assurance PBC 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Assurance readiness boundary; reporting period; Exception rate = failed samples ÷ tested samples;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Narrative claim lacks retained record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ASSURANCE PBC LIST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Assurance readiness: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144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Narrative claim lacks retained record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Test high-risk assertions 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NARRATIVE CLAIM LACKS RETAINED RECORD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Assurance readiness: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Assurance PBC 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Exception rate = failed samples ÷ tested samples Worked basis: 3 failed samples ÷ 40 tested = 7.5% exception rate; remediate above 5%.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Test high-risk assertions first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Assurance readiness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TEST HIGH-RISK ASSERTIONS FIRST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Disclosure drafting: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146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Disclosure annotation sheet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Fact–judgement–estimate labels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FACT–JUDGEMENT–ESTIMATE LABELS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Disclosure drafting: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147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Estimate range = high − 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High estimate 1,200 − low 900 = 300 tCO2e range; disclose method and sensitivity.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State method, range and sensitivity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ESTIMATE RANGE = HIGH − LOW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Disclosure drafting: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148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Disclosure annotation sheet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Disclosure drafting boundary; reporting period; Estimate range = high − low;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Estimate presented as fact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DISCLOSURE ANNOTATION SHEET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Disclosure drafting: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149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Estimate presented as 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State method, range and sensitivity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ESTIMATE PRESENTED AS FACT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Disclosure drafting: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Disclosure annotation sheet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Estimate range = high − low Worked basis: High estimate 1,200 − low 900 = 300 tCO2e range; disclose method and sensitivity.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State method, range and sensitivity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Disclosure drafting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STATE METHOD, RANGE AND SENSITIVITY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Compliance governance: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151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Compliance remediation 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Obligation-to-control crosswalk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OBLIGATION-TO-CONTROL CROSSWALK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Compliance governance: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152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Closure rate = closed gaps ÷ total gaps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17 closed gaps ÷ 20 total = 85% closure; three effective-date gaps remain.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Assign legal owner and trigger review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CLOSURE RATE = CLOSED GAPS ÷ TOTAL GAPS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Compliance governance: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153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Compliance remediation 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Compliance governance boundary; reporting period; Closure rate = closed gaps ÷ total gaps;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No effective-date monitoring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COMPLIANCE REMEDIATION LOG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Compliance governance: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No effective-date monitoring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Assign legal owner and trigger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NO EFFECTIVE-DATE MONITORING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Compliance governance: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155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Compliance remediation 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Closure rate = closed gaps ÷ total gaps Worked basis: 17 closed gaps ÷ 20 total = 85% closure; three effective-date gaps remain.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Assign legal owner and trigger 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Compliance governance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ASSIGN LEGAL OWNER AND TRIGGER REVIEW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ARCH + IMAGEGEN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Closed-loop manufacturing: physical evidence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156</a:t>
            </a:r>
          </a:p>
        </p:txBody>
      </p:sp>
      <p:pic>
        <p:nvPicPr>
          <p:cNvPr id="7" name="Picture 6" descr="closed-loop-circular-manufacturing-v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0"/>
            <a:ext cx="6720840" cy="4434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35240" y="1463040"/>
            <a:ext cx="3886200" cy="11430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16276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1  RECOVER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196596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262C"/>
                </a:solidFill>
                <a:latin typeface="Aptos"/>
              </a:defRPr>
            </a:pPr>
            <a:r>
              <a:t>Heat, water and material streams return to defined process points.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907792"/>
            <a:ext cx="3886200" cy="11430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307238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2  MEASURE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3410712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262C"/>
                </a:solidFill>
                <a:latin typeface="Aptos"/>
              </a:defRPr>
            </a:pPr>
            <a:r>
              <a:t>Meters and mass-balance records establish the baseline and avoided impact.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4352544"/>
            <a:ext cx="3886200" cy="11430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45171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3  GOVERN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4855464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262C"/>
                </a:solidFill>
                <a:latin typeface="Aptos"/>
              </a:defRPr>
            </a:pPr>
            <a:r>
              <a:t>Approve only with boundary, owner, threshold and retained evidence.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Circular economy: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157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Circular input rate = circular input ÷ total input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360 t circular input ÷ 1,200 t total input = 30%; target 40% → 120 t gap.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Prioritise refuse, reduce, reuse, repair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CIRCULAR INPUT RATE = CIRCULAR INPUT ÷ TOTAL INPUT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Circular economy: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158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Material-flow 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Circular economy boundary; reporting period; Circular input rate = circular input ÷ total input;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Recycling used as only strategy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MATERIAL-FLOW LOOP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Circular economy: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159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Recycling used as only strategy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Prioritise refuse, reduce, reuse, repair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RECYCLING USED AS ONLY STRATEGY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Circular economy: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Material-flow 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Circular input rate = circular input ÷ total input Worked basis: 360 t circular input ÷ 1,200 t total input = 30%; target 40% → 120 t gap.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Prioritise refuse, reduce, reuse, repair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Circular economy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PRIORITISE REFUSE, REDUCE, REUSE, REPAIR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Material flow: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161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Sankey-style balance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Mass-balance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MASS-BALANCE MODEL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Material flow: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162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Variance = input − product − recovery − waste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1,000 − 620 − 280 − 80 = 20 t variance (2%); investigate above 1%.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Investigate variance above tolerance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VARIANCE = INPUT − PRODUCT − RECOVERY − WASTE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Material flow: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163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Sankey-style balance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Material flow boundary; reporting period; Variance = input − product − recovery − waste;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Unexplained losses ignored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SANKEY-STYLE BALANCE TABLE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Material flow: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164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Unexplained losses ignored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Investigate variance above tolerance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UNEXPLAINED LOSSES IGNORED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Material flow: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165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Sankey-style balance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Variance = input − product − recovery − waste Worked basis: 1,000 − 620 − 280 − 80 = 20 t variance (2%); investigate above 1%.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Investigate variance above tolerance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Material flow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INVESTIGATE VARIANCE ABOVE TOLERANCE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Circular design: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166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Bill-of-material circularity sheet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Design-for-disassembly map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DESIGN-FOR-DISASSEMBLY MAP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Circular design: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167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Recovery yield = recovered mass ÷ returned mass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420 kg recovered ÷ 600 kg returned = 70% recovery yield; redesign target 85%.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Verify system, not material claim alone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RECOVERY YIELD = RECOVERED MASS ÷ RETURNED MASS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Circular design: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168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Bill-of-material circularity sheet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Circular design boundary; reporting period; Recovery yield = recovered mass ÷ returned mass;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Recyclable but no collection route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BILL-OF-MATERIAL CIRCULARITY SHEET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Circular design: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169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Recyclable but no collection route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Verify system, not material claim alone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RECYCLABLE BUT NO COLLECTION ROUTE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Circular design: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170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Bill-of-material circularity sheet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Recovery yield = recovered mass ÷ returned mass Worked basis: 420 kg recovered ÷ 600 kg returned = 70% recovery yield; redesign target 85%.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Verify system, not material claim alone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Circular design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VERIFY SYSTEM, NOT MATERIAL CLAIM ALONE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Product take-back: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171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Take-back funnel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Reverse-logistics network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REVERSE-LOGISTICS NETWORK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Product take-back: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172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Return rate = returned units ÷ sold units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8,400 returned ÷ 60,000 sold = 14% return rate; target 20% → 3,600-unit gap.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Unique chain-of-custody record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RETURN RATE = RETURNED UNITS ÷ SOLD UNITS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Product take-back: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173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Take-back funnel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Product take-back boundary; reporting period; Return rate = returned units ÷ sold units;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Collected mass double-counted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TAKE-BACK FUNNEL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Product take-back: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174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Collected mass double-counted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Unique chain-of-custody 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COLLECTED MASS DOUBLE-COUNTED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SOURCE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LU4 retained source evidence: annotated decision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175</a:t>
            </a:r>
          </a:p>
        </p:txBody>
      </p:sp>
      <p:pic>
        <p:nvPicPr>
          <p:cNvPr id="7" name="Picture 6" descr="lu4-original-evidence-source-slide-4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537960" cy="4389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79" y="1444752"/>
            <a:ext cx="3977639" cy="11430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60934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94767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62C"/>
                </a:solidFill>
                <a:latin typeface="Aptos"/>
              </a:defRPr>
            </a:pPr>
            <a:r>
              <a:t>Original slide 401 from the master trainer slides.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2889504"/>
            <a:ext cx="3977639" cy="11430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305409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392424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62C"/>
                </a:solidFill>
                <a:latin typeface="Aptos"/>
              </a:defRPr>
            </a:pPr>
            <a:r>
              <a:t>Use the original carbon/circularity evidence to define baseline, unit, reduction lever and verification method.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4334256"/>
            <a:ext cx="3977639" cy="11430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449884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837176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62C"/>
                </a:solidFill>
                <a:latin typeface="Aptos"/>
              </a:defRPr>
            </a:pPr>
            <a:r>
              <a:t>Record boundary, method, owner, threshold and source citation before using the evidence.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Sustainable procurement: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176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Weighted tender matrix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ISO 20400 control chain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ISO 20400 CONTROL CHAIN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Sustainable procurement: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177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Supplier coverage = assessed spend ÷ addressable spend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S$18m assessed spend ÷ S$24m addressable = 75% supplier coverage.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Embed criteria, evidence and remedy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SUPPLIER COVERAGE = ASSESSED SPEND ÷ ADDRESSABLE SPEND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Sustainable procurement: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178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Weighted tender matrix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Sustainable procurement boundary; reporting period; Supplier coverage = assessed spend ÷ addressable spend;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Policy without contract clause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WEIGHTED TENDER MATRIX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Sustainable procurement: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179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Policy without contract clause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Embed criteria, evidence and remedy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POLICY WITHOUT CONTRACT CLAUSE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Sustainable procurement: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180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Weighted tender matrix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Supplier coverage = assessed spend ÷ addressable spend Worked basis: S$18m assessed spend ÷ S$24m addressable = 75% supplier coverage.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Embed criteria, evidence and remedy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Sustainable procurement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EMBED CRITERIA, EVIDENCE AND REMEDY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Supply-chain disclosure: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181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Supplier evidence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Tiered traceability map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TIERED TRACEABILITY MAP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Supply-chain disclosure: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182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Traceability = verified tier spend ÷ total spend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S$9m verified tier spend ÷ S$15m total = 60% traceability; high-risk threshold 90%.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Risk-tier and validate samples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TRACEABILITY = VERIFIED TIER SPEND ÷ TOTAL SPEND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Supply-chain disclosure: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183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Supplier evidence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Supply-chain disclosure boundary; reporting period; Traceability = verified tier spend ÷ total spend;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Survey answer treated as verified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SUPPLIER EVIDENCE REGISTER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Supply-chain disclosure: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184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Survey answer treated as verified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Risk-tier and validate samples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SURVEY ANSWER TREATED AS VERIFIED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Supply-chain disclosure: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185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Supplier evidence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Traceability = verified tier spend ÷ total spend Worked basis: S$9m verified tier spend ÷ S$15m total = 60% traceability; high-risk threshold 90%.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Risk-tier and validate samples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Supply-chain disclosure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RISK-TIER AND VALIDATE SAMPLES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GHG inventory: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186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GHG inventory workbook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Scope 1–2–3 boundary map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SCOPE 1–2–3 BOUNDARY MAP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GHG inventory: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187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tCO2e = activity data × emission factor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500,000 L fuel × 2.68 kgCO2e/L = 1,340 tCO2e Scope 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Disclose method and factor source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TCO2E = ACTIVITY DATA × EMISSION FACTOR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GHG inventory: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188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GHG inventory workbook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GHG inventory boundary; reporting period; tCO2e = activity data × emission factor;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Market/location method mixed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GHG INVENTORY WORKBOOK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GHG inventory: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189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Market/location method mixed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Disclose method and factor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MARKET/LOCATION METHOD MIXED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GHG inventory: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190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GHG inventory workbook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tCO2e = activity data × emission factor Worked basis: 500,000 L fuel × 2.68 kgCO2e/L = 1,340 tCO2e Scope 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Disclose method and factor source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GHG inventory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DISCLOSE METHOD AND FACTOR SOURCE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Marginal abatement cost: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191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Abatement portfolio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MAC curve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MAC CURVE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Marginal abatement cost: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192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MAC = net annual cost ÷ annual tCO2e avoided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−S$85,000 ÷ 420 tCO2e = −S$202/tCO2e; no-regret, then check dependency.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Sequence by MAC, dependency and risk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MAC = NET ANNUAL COST ÷ ANNUAL TCO2E AVOIDED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Marginal abatement cost: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193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Abatement portfolio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Marginal abatement cost boundary; reporting period; MAC = net annual cost ÷ annual tCO2e avoided;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Initiatives added despite dependency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ABATEMENT PORTFOLIO TABLE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Marginal abatement cost: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194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Initiatives added despite dependency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Sequence by MAC, dependency and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INITIATIVES ADDED DESPITE DEPENDENCY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Marginal abatement cost: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195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1417320"/>
          <a:ext cx="681228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909560" y="1554480"/>
            <a:ext cx="3566160" cy="16002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7556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148840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262C"/>
                </a:solidFill>
                <a:latin typeface="Aptos"/>
              </a:defRPr>
            </a:pPr>
            <a:r>
              <a:t>Abatement portfolio 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566160"/>
            <a:ext cx="3566160" cy="16002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37673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4160520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262C"/>
                </a:solidFill>
                <a:latin typeface="Aptos"/>
              </a:defRPr>
            </a:pPr>
            <a:r>
              <a:t>MAC = net annual cost ÷ annual tCO2e avoided Worked basis: −S$85,000 ÷ 420 tCO2e = −S$202/tCO2e; no-regret, then check dependency.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SEQUENCE BY MAC, DEPENDENCY AND RISK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Carbon tax context: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196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Carbon-cost sensitivity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Policy cost scenario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POLICY COST SCENARIO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Carbon tax context: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197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Tax exposure = taxable tCO2e × S$45 (2026–27)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12,000 taxable tCO2e × S$45 = S$540,000 exposure for 2026–27.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Include energy, capex and transition risk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TAX EXPOSURE = TAXABLE TCO2E × S$45 (2026–27)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Carbon tax context: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198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Carbon-cost sensitivity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Carbon tax context boundary; reporting period; Tax exposure = taxable tCO2e × S$45 (2026–27);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Tax alone used as business case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CARBON-COST SENSITIVITY TABLE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Carbon tax context: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199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Tax alone used as business case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Include energy, capex and transition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TAX ALONE USED AS BUSINESS CASE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Carbon tax context: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Carbon-cost sensitivity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Tax exposure = taxable tCO2e × S$45 (2026–27) Worked basis: 12,000 taxable tCO2e × S$45 = S$540,000 exposure for 2026–27.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Include energy, capex and transition 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Carbon tax context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INCLUDE ENERGY, CAPEX AND TRANSITION RISK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Sustainability portfolio: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Executive portfolio roadmap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Value–impact–feasibility matrix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VALUE–IMPACT–FEASIBILITY MATRIX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Sustainability portfolio: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Portfolio score = 40% impact + 35% value + 25% feasibility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0.40×impact 4.2 + 0.35×value 3.8 + 0.25×feasibility 3.6 = 3.91/5.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Define owner, indicator and verification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PORTFOLIO SCORE = 40% IMPACT + 35% VALUE + 25% FEASIBILITY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Sustainability portfolio: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Executive portfolio roadmap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Sustainability portfolio boundary; reporting period; Portfolio score = 40% impact + 35% value + 25% feasibility;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Community effect left qualitative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EXECUTIVE PORTFOLIO ROADMAP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Sustainability portfolio: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Community effect left qualitative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Define owner, indicator and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COMMUNITY EFFECT LEFT QUALITATIVE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Sustainability portfolio: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Executive portfolio roadmap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Portfolio score = 40% impact + 35% value + 25% feasibility Worked basis: 0.40×impact 4.2 + 0.35×value 3.8 + 0.25×feasibility 3.6 = 3.91/5.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Define owner, indicator and verification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Sustainability portfolio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DEFINE OWNER, INDICATOR AND VERIFICATION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Activity 1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payback and weighted score.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Retain the relevant record.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Name the accountable role.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NEXT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Confirm completion before course close.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ACTIVITY 1 DEBRIEF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Activity 2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Defend the materiality threshold and KPI tolerance.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Retain the relevant record.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Name the accountable role.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NEXT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Confirm completion before course close.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ACTIVITY 2 DEBRIEF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Activity 3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Trace data to disclosure and control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Retain the relevant record.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Name the accountable role.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NEXT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Confirm completion before course close.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ACTIVITY 3 DEBRIEF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Activity 4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Explain MAC, dependencies and verification.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Retain the relevant record.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Name the accountable role.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NEXT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Confirm completion before course close.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ACTIVITY 4 DEBRIEF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Course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Complete the course feedback survey before you leave.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Retain the relevant record.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Name the accountable role.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NEXT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Confirm completion before course close.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COURSE FEEDBACK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Action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Name one owner, metric, threshold and next review.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Retain the relevant record.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Name the accountable role.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NEXT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Confirm completion before course close.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ACTION PLAN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Masterclass | C797 |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Engineering evidence → reporting confidence → strategic value.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Retain the relevant record.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Name the accountable role.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NEXT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Confirm completion before course close.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Sustainability Reporting Masterclass</dc:title>
  <dc:subject>C797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